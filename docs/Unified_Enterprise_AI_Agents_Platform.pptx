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Capgemini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51560" cy="40640"/>
          </a:xfrm>
          <a:prstGeom prst="rect">
            <a:avLst/>
          </a:prstGeom>
          <a:solidFill>
            <a:srgbClr val="007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45720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9B5E8"/>
                </a:solidFill>
              </a:rPr>
              <a:t>❄ </a:t>
            </a:r>
            <a:r>
              <a:rPr sz="2400" b="1">
                <a:solidFill>
                  <a:srgbClr val="FFFFFF"/>
                </a:solidFill>
                <a:latin typeface="Calibri"/>
              </a:rPr>
              <a:t>Snowflake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Unified Enterprise AI Agents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29B5E8"/>
                </a:solidFill>
                <a:latin typeface="Calibri"/>
              </a:rPr>
              <a:t>Self-Service Analytics  •  Document Intelligence  •  Data Quality Root Cause</a:t>
            </a:r>
          </a:p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29B5E8"/>
                </a:solidFill>
                <a:latin typeface="Calibri"/>
              </a:rPr>
              <a:t>All in one conversational AI agent, built natively on Snowflake Cortex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4434840"/>
            <a:ext cx="2286000" cy="25400"/>
          </a:xfrm>
          <a:prstGeom prst="rect">
            <a:avLst/>
          </a:prstGeom>
          <a:solidFill>
            <a:srgbClr val="E8A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09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Capgemini × Snowflake Hackathon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Presented by  Kiran Kumar Rajoju   &amp;   Raza Hussain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292608"/>
            <a:ext cx="131673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39" b="1">
                <a:solidFill>
                  <a:srgbClr val="FFFFFF"/>
                </a:solidFill>
                <a:latin typeface="Georgia"/>
              </a:rPr>
              <a:t>Capgemini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0" y="566928"/>
            <a:ext cx="630936" cy="40640"/>
          </a:xfrm>
          <a:prstGeom prst="rect">
            <a:avLst/>
          </a:prstGeom>
          <a:solidFill>
            <a:srgbClr val="007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92608"/>
            <a:ext cx="1426464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39" b="1">
                <a:solidFill>
                  <a:srgbClr val="29B5E8"/>
                </a:solidFill>
              </a:rPr>
              <a:t>❄ </a:t>
            </a:r>
            <a:r>
              <a:rPr sz="1439" b="1">
                <a:solidFill>
                  <a:srgbClr val="FFFFFF"/>
                </a:solidFill>
                <a:latin typeface="Calibri"/>
              </a:rPr>
              <a:t>Snowflake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▸  The Problem — three specialists, three tools, too slow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▸  The Solution — one unified conversational agent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▸  Architecture — how it's built, natively on Snowflake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▸  Live Capabilities — Analytics, Document Q&amp;A, Data Quality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▸  Unified Orchestration — one chat box, automatic routing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▸  Dashboards &amp; MCP Integration — usage, trust, and extensibility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▸  Business Value &amp; Judging 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6370"/>
                </a:solidFill>
                <a:latin typeface="Calibri"/>
              </a:rPr>
              <a:t>Unified Enterprise AI Agents Platform  |  Capgemini x Snowflake Hackathon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A1A1A"/>
                </a:solidFill>
                <a:latin typeface="Calibri"/>
              </a:rPr>
              <a:t>Business users at an insurer need answers from three different places — and today,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A1A1A"/>
                </a:solidFill>
                <a:latin typeface="Calibri"/>
              </a:rPr>
              <a:t>that means three different specialists.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291840" cy="30175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0" i="0">
                <a:solidFill>
                  <a:srgbClr val="1A1A1A"/>
                </a:solidFill>
                <a:latin typeface="Calibri"/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070AD"/>
                </a:solidFill>
                <a:latin typeface="Calibri"/>
              </a:rPr>
              <a:t>SQL / BI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3192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1A1A1A"/>
                </a:solidFill>
                <a:latin typeface="Calibri"/>
              </a:rPr>
              <a:t>"What's our average loss ratio</a:t>
            </a:r>
          </a:p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1A1A1A"/>
                </a:solidFill>
                <a:latin typeface="Calibri"/>
              </a:rPr>
              <a:t>by policy type?"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89204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A6370"/>
                </a:solidFill>
                <a:latin typeface="Calibri"/>
              </a:rPr>
              <a:t>Structured data: policies,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A6370"/>
                </a:solidFill>
                <a:latin typeface="Calibri"/>
              </a:rPr>
              <a:t>claims, billing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468880"/>
            <a:ext cx="3291840" cy="30175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651760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0" i="0">
                <a:solidFill>
                  <a:srgbClr val="1A1A1A"/>
                </a:solidFill>
                <a:latin typeface="Calibri"/>
              </a:rPr>
              <a:t>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4290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070AD"/>
                </a:solidFill>
                <a:latin typeface="Calibri"/>
              </a:rPr>
              <a:t>Document Reviewer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93192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1A1A1A"/>
                </a:solidFill>
                <a:latin typeface="Calibri"/>
              </a:rPr>
              <a:t>"Does this policy cover</a:t>
            </a:r>
          </a:p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1A1A1A"/>
                </a:solidFill>
                <a:latin typeface="Calibri"/>
              </a:rPr>
              <a:t>water damage?"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89204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A6370"/>
                </a:solidFill>
                <a:latin typeface="Calibri"/>
              </a:rPr>
              <a:t>Unstructured PDFs and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A6370"/>
                </a:solidFill>
                <a:latin typeface="Calibri"/>
              </a:rPr>
              <a:t>contracts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2468880"/>
            <a:ext cx="3291840" cy="30175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2651760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0" i="0">
                <a:solidFill>
                  <a:srgbClr val="1A1A1A"/>
                </a:solidFill>
                <a:latin typeface="Calibri"/>
              </a:rPr>
              <a:t>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4290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070AD"/>
                </a:solidFill>
                <a:latin typeface="Calibri"/>
              </a:rPr>
              <a:t>Data Engineer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393192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1A1A1A"/>
                </a:solidFill>
                <a:latin typeface="Calibri"/>
              </a:rPr>
              <a:t>"Why did this data quality</a:t>
            </a:r>
          </a:p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1A1A1A"/>
                </a:solidFill>
                <a:latin typeface="Calibri"/>
              </a:rPr>
              <a:t>check fail?"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489204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A6370"/>
                </a:solidFill>
                <a:latin typeface="Calibri"/>
              </a:rPr>
              <a:t>DQ rules, results,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A6370"/>
                </a:solidFill>
                <a:latin typeface="Calibri"/>
              </a:rPr>
              <a:t>and logs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1">
                <a:solidFill>
                  <a:srgbClr val="5A6370"/>
                </a:solidFill>
                <a:latin typeface="Calibri"/>
              </a:rPr>
              <a:t>Slow, siloed, and dependent on whoever happens to be available.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6370"/>
                </a:solidFill>
                <a:latin typeface="Calibri"/>
              </a:rPr>
              <a:t>Unified Enterprise AI Agents Platform  |  Capgemini x Snowflake Hackathon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 i="0">
                <a:solidFill>
                  <a:srgbClr val="1A1A1A"/>
                </a:solidFill>
                <a:latin typeface="Calibri"/>
              </a:rPr>
              <a:t>One conversational agent that replaces all three specialists —</a:t>
            </a:r>
          </a:p>
          <a:p>
            <a:pPr algn="l">
              <a:lnSpc>
                <a:spcPct val="130000"/>
              </a:lnSpc>
            </a:pPr>
            <a:r>
              <a:rPr sz="1900" b="1" i="0">
                <a:solidFill>
                  <a:srgbClr val="1A1A1A"/>
                </a:solidFill>
                <a:latin typeface="Calibri"/>
              </a:rPr>
              <a:t>built entirely with native Snowflake Cortex features.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109728" cy="960120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Calibri"/>
              </a:rPr>
              <a:t>📊  Self-Service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52928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370"/>
                </a:solidFill>
                <a:latin typeface="Calibri"/>
              </a:rPr>
              <a:t>Cortex Analyst turns plain English into governed SQL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370"/>
                </a:solidFill>
                <a:latin typeface="Calibri"/>
              </a:rPr>
              <a:t>against a native SEMANTIC VIEW.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109728" cy="960120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11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Calibri"/>
              </a:rPr>
              <a:t>📄  Document Q&amp;A (RAG)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41648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370"/>
                </a:solidFill>
                <a:latin typeface="Calibri"/>
              </a:rPr>
              <a:t>Cortex Search auto-embeds and indexes policy documents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370"/>
                </a:solidFill>
                <a:latin typeface="Calibri"/>
              </a:rPr>
              <a:t>— no external vector database.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109728" cy="960120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8006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Calibri"/>
              </a:rPr>
              <a:t>🛡  Data Quality Root Cause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230368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370"/>
                </a:solidFill>
                <a:latin typeface="Calibri"/>
              </a:rPr>
              <a:t>A second semantic view lets business users ask “why did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370"/>
                </a:solidFill>
                <a:latin typeface="Calibri"/>
              </a:rPr>
              <a:t>this fail?” and get a real answer.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989320"/>
            <a:ext cx="10698480" cy="50292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0533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One chat box.  One agent.  Automatic routing between all three.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371600"/>
            <a:ext cx="3200400" cy="640080"/>
          </a:xfrm>
          <a:prstGeom prst="roundRect">
            <a:avLst>
              <a:gd name="adj" fmla="val 15000"/>
            </a:avLst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5087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Streamlit-in-Snowflake  —  Chat UI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2011680"/>
            <a:ext cx="0" cy="365760"/>
          </a:xfrm>
          <a:prstGeom prst="bentConnector3">
            <a:avLst/>
          </a:prstGeom>
          <a:ln w="2540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23360" y="2377440"/>
            <a:ext cx="4114800" cy="77724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248716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ENTERPRISE_AI_AGENT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798064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9B5E8"/>
                </a:solidFill>
                <a:latin typeface="Calibri"/>
              </a:rPr>
              <a:t>Snowflake Cortex Agent  •  auto-orchestration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331720.0" y="3154680"/>
            <a:ext cx="3749040.0" cy="411480"/>
          </a:xfrm>
          <a:prstGeom prst="bentConnector3">
            <a:avLst/>
          </a:prstGeom>
          <a:ln w="1905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5800" y="3566160"/>
            <a:ext cx="3291840" cy="86868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9050">
            <a:solidFill>
              <a:srgbClr val="0070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39312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AnalyticsAgent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5020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A6370"/>
                </a:solidFill>
                <a:latin typeface="Calibri"/>
              </a:rPr>
              <a:t>Cortex Analyst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A6370"/>
                </a:solidFill>
                <a:latin typeface="Calibri"/>
              </a:rPr>
              <a:t>(text-to-SQL)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31720.0" y="4434840"/>
            <a:ext cx="0.0" cy="274320"/>
          </a:xfrm>
          <a:prstGeom prst="bentConnector3">
            <a:avLst/>
          </a:prstGeom>
          <a:ln w="1905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5800" y="470916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007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82803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ANALYTICS_SEMANTIC_VIEW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3154680"/>
            <a:ext cx="18288.0" cy="411480"/>
          </a:xfrm>
          <a:prstGeom prst="bentConnector3">
            <a:avLst/>
          </a:prstGeom>
          <a:ln w="1905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453128" y="3566160"/>
            <a:ext cx="3291840" cy="86868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9050">
            <a:solidFill>
              <a:srgbClr val="29B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3639312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DocumentQA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395020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A6370"/>
                </a:solidFill>
                <a:latin typeface="Calibri"/>
              </a:rPr>
              <a:t>Cortex Search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A6370"/>
                </a:solidFill>
                <a:latin typeface="Calibri"/>
              </a:rPr>
              <a:t>(RAG)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9048.0" y="4434840"/>
            <a:ext cx="0.0" cy="274320"/>
          </a:xfrm>
          <a:prstGeom prst="bentConnector3">
            <a:avLst/>
          </a:prstGeom>
          <a:ln w="1905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453128" y="470916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3128" y="482803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POLICY_DOCUMENT_SEARCH_SVC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3154680"/>
            <a:ext cx="3776472.0" cy="411480"/>
          </a:xfrm>
          <a:prstGeom prst="bentConnector3">
            <a:avLst/>
          </a:prstGeom>
          <a:ln w="1905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211312" y="3566160"/>
            <a:ext cx="3291840" cy="86868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9050">
            <a:solidFill>
              <a:srgbClr val="E8A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3639312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DataQualityAgent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395020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A6370"/>
                </a:solidFill>
                <a:latin typeface="Calibri"/>
              </a:rPr>
              <a:t>Cortex Analyst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A6370"/>
                </a:solidFill>
                <a:latin typeface="Calibri"/>
              </a:rPr>
              <a:t>(text-to-SQL)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857232.0" y="4434840"/>
            <a:ext cx="0.0" cy="274320"/>
          </a:xfrm>
          <a:prstGeom prst="bentConnector3">
            <a:avLst/>
          </a:prstGeom>
          <a:ln w="1905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211312" y="470916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E8A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2" y="482803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DQ_SEMANTIC_VIEW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1">
                <a:solidFill>
                  <a:srgbClr val="5A6370"/>
                </a:solidFill>
                <a:latin typeface="Calibri"/>
              </a:rPr>
              <a:t>Everything runs natively inside Snowflake — one governance boundary, no data leaves the</a:t>
            </a:r>
          </a:p>
          <a:p>
            <a:pPr algn="ctr">
              <a:lnSpc>
                <a:spcPct val="130000"/>
              </a:lnSpc>
            </a:pPr>
            <a:r>
              <a:rPr sz="1400" b="0" i="1">
                <a:solidFill>
                  <a:srgbClr val="5A6370"/>
                </a:solidFill>
                <a:latin typeface="Calibri"/>
              </a:rPr>
              <a:t>account, no external vector DB or orchestration service required.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6370"/>
                </a:solidFill>
                <a:latin typeface="Calibri"/>
              </a:rPr>
              <a:t>Unified Enterprise AI Agents Platform  |  Capgemini x Snowflake Hackathon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0" i="0">
                <a:solidFill>
                  <a:srgbClr val="1A1A1A"/>
                </a:solidFill>
                <a:latin typeface="Calibri"/>
              </a:rPr>
              <a:t>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Agent 1 — Self-Service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621792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9B5E8"/>
                </a:solidFill>
                <a:latin typeface="Calibri"/>
              </a:rPr>
              <a:t>Structured data, answered in plain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6217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▸  Native SEMANTIC VIEW over 6 operational tables — customers,
policies, claims, billing, agents, at-risk policies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▸  Business-friendly metrics: loss ratio, total premium, fraud
claim count, revenue at risk, churn probability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▸  Cortex Analyst translates the question into governed SQL —
shown inline for full transparency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▸  Relationships declared explicitly, so joins are always correct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554480"/>
            <a:ext cx="4114800" cy="27432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9B5E8"/>
                </a:solidFill>
                <a:latin typeface="Calibri"/>
              </a:rPr>
              <a:t>Example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148840"/>
            <a:ext cx="3566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FFFFFF"/>
                </a:solidFill>
                <a:latin typeface="Calibri"/>
              </a:rPr>
              <a:t>“What's our average loss ratio by policy type?”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3383280"/>
            <a:ext cx="3566160" cy="19050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3520440"/>
            <a:ext cx="3566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7D6E8"/>
                </a:solidFill>
                <a:latin typeface="Calibri"/>
              </a:rPr>
              <a:t>Verified live: Life ~57.5%, Health/Home ~55.4%, Auto ~53.1%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7D6E8"/>
                </a:solidFill>
                <a:latin typeface="Calibri"/>
              </a:rPr>
              <a:t>— all computed from real generated SQL, not canned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6370"/>
                </a:solidFill>
                <a:latin typeface="Calibri"/>
              </a:rPr>
              <a:t>Unified Enterprise AI Agents Platform  |  Capgemini x Snowflake Hackathon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0" i="0">
                <a:solidFill>
                  <a:srgbClr val="1A1A1A"/>
                </a:solidFill>
                <a:latin typeface="Calibri"/>
              </a:rPr>
              <a:t>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Agent 2 — Document Q&amp;A (RAG)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621792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9B5E8"/>
                </a:solidFill>
                <a:latin typeface="Calibri"/>
              </a:rPr>
              <a:t>Ask questions of unstructured policy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6217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▸  Policy documents chunked with
SNOWFLAKE.CORTEX.SPLIT_TEXT_RECURSIVE_CHARACTER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▸  A CORTEX SEARCH SERVICE indexes chunk text with
auto-managed embeddings — no external vector DB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▸  Answers cite the source document, so business users can
verify, not just trust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▸  Filterable by policy ID, document type, and title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554480"/>
            <a:ext cx="4114800" cy="27432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9B5E8"/>
                </a:solidFill>
                <a:latin typeface="Calibri"/>
              </a:rPr>
              <a:t>Example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148840"/>
            <a:ext cx="3566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FFFFFF"/>
                </a:solidFill>
                <a:latin typeface="Calibri"/>
              </a:rPr>
              <a:t>“What are the exclusion clauses for water damage in the Homeowners policy?”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3383280"/>
            <a:ext cx="3566160" cy="19050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3520440"/>
            <a:ext cx="3566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7D6E8"/>
                </a:solidFill>
                <a:latin typeface="Calibri"/>
              </a:rPr>
              <a:t>Verified live: correctly distinguished that flood is excluded,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7D6E8"/>
                </a:solidFill>
                <a:latin typeface="Calibri"/>
              </a:rPr>
              <a:t>while general water damage (e.g. burst pipes) is not.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6370"/>
                </a:solidFill>
                <a:latin typeface="Calibri"/>
              </a:rPr>
              <a:t>Unified Enterprise AI Agents Platform  |  Capgemini x Snowflake Hackathon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0" i="0">
                <a:solidFill>
                  <a:srgbClr val="1A1A1A"/>
                </a:solidFill>
                <a:latin typeface="Calibri"/>
              </a:rPr>
              <a:t>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Agent 3 — Data Quality Root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621792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9B5E8"/>
                </a:solidFill>
                <a:latin typeface="Calibri"/>
              </a:rPr>
              <a:t>Conversational root-cause analysis, not a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6217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▸  A second SEMANTIC VIEW over DQ_RULES, DQ_RESULTS,
DQ_COLUMN_HEALTH, and DQ_SCORES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▸  Turns “why did this fail?” into an evidence-backed answer,
not a support ticket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▸  Cites the exact rule, pass rate, and threshold that triggered
the failure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▸  Replaces manually opening a DQ dashboard and
cross-referencing rule logs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554480"/>
            <a:ext cx="4114800" cy="27432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9B5E8"/>
                </a:solidFill>
                <a:latin typeface="Calibri"/>
              </a:rPr>
              <a:t>Example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148840"/>
            <a:ext cx="3566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FFFFFF"/>
                </a:solidFill>
                <a:latin typeface="Calibri"/>
              </a:rPr>
              <a:t>“Why did the DQ check on CUSTOMERS.EMAIL fail?”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3383280"/>
            <a:ext cx="3566160" cy="19050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3520440"/>
            <a:ext cx="3566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7D6E8"/>
                </a:solidFill>
                <a:latin typeface="Calibri"/>
              </a:rPr>
              <a:t>Verified live: identified the UNIQUE_CUSTOMER_EMAIL rule,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7D6E8"/>
                </a:solidFill>
                <a:latin typeface="Calibri"/>
              </a:rPr>
              <a:t>94% pass rate vs. 99% threshold, root cause = duplicate emails.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6370"/>
                </a:solidFill>
                <a:latin typeface="Calibri"/>
              </a:rPr>
              <a:t>Unified Enterprise AI Agents Platform  |  Capgemini x Snowflake Hackathon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Live Proof — Data Quality Root Cause</a:t>
            </a:r>
          </a:p>
        </p:txBody>
      </p:sp>
      <p:pic>
        <p:nvPicPr>
          <p:cNvPr id="5" name="Picture 4" descr="stream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38348"/>
            <a:ext cx="10698480" cy="4404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6370"/>
                </a:solidFill>
                <a:latin typeface="Calibri"/>
              </a:rPr>
              <a:t>Unified Enterprise AI Agents Platform  |  Capgemini x Snowflake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Unified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A1A1A"/>
                </a:solidFill>
                <a:latin typeface="Calibri"/>
              </a:rPr>
              <a:t>This is the “Unified” in the project name — not three separate demos, but one agent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A1A1A"/>
                </a:solidFill>
                <a:latin typeface="Calibri"/>
              </a:rPr>
              <a:t>that decides for itself which capability to use.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9728" cy="777240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6771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One chat box.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33472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370"/>
                </a:solidFill>
                <a:latin typeface="Calibri"/>
              </a:rPr>
              <a:t>The user never picks a tool — they just ask a question, in plain English.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91840"/>
            <a:ext cx="109728" cy="777240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735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Automatic routing.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39312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370"/>
                </a:solidFill>
                <a:latin typeface="Calibri"/>
              </a:rPr>
              <a:t>Cortex Agents' orchestration model decides per-question which tool(s) to invoke.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97680"/>
            <a:ext cx="109728" cy="777240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93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Full transparency.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45152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370"/>
                </a:solidFill>
                <a:latin typeface="Calibri"/>
              </a:rPr>
              <a:t>Every answer shows a caption — e.g. “via 📊 Self-Service Analytics” — so it's always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370"/>
                </a:solidFill>
                <a:latin typeface="Calibri"/>
              </a:rPr>
              <a:t>clear which capability actually answered.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303520"/>
            <a:ext cx="109728" cy="777240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Auditable by design.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650992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370"/>
                </a:solidFill>
                <a:latin typeface="Calibri"/>
              </a:rPr>
              <a:t>Generated SQL and document citations are shown inline, so every answer can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370"/>
                </a:solidFill>
                <a:latin typeface="Calibri"/>
              </a:rPr>
              <a:t>be independently verified.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6370"/>
                </a:solidFill>
                <a:latin typeface="Calibri"/>
              </a:rPr>
              <a:t>Unified Enterprise AI Agents Platform  |  Capgemini x Snowflake Hackathon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</a:rPr>
              <a:t>Dashboards &amp; MCP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70AD"/>
                </a:solidFill>
                <a:latin typeface="Calibri"/>
              </a:rPr>
              <a:t>Snowflake Intelligence Dashboards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 Portfolio &amp; Risk — premium, loss ratio, revenue at risk
by policy type and region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 Trend Analysis — month-over-month claims,
fraud, and churn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 Agent Accuracy &amp; Usage — query volume and
👍/👎 helpful rate per tool, live from every
chat interaction</a:t>
            </a:r>
          </a:p>
        </p:txBody>
      </p:sp>
      <p:pic>
        <p:nvPicPr>
          <p:cNvPr id="7" name="Picture 6" descr="streamlit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80697"/>
            <a:ext cx="5303520" cy="247364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4892040"/>
            <a:ext cx="11064240" cy="1905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074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70AD"/>
                </a:solidFill>
                <a:latin typeface="Calibri"/>
              </a:rPr>
              <a:t>MCP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864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 ENTERPRISE_AI_AGENT exposed as a Model Context Protocol server — any MCP client (Claude, Cursor, etc.) can query it directly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▸  Tested and verified live end-to-end with Claude's Connectors UI via OAuth — real questions, real executed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6370"/>
                </a:solidFill>
                <a:latin typeface="Calibri"/>
              </a:rPr>
              <a:t>Unified Enterprise AI Agents Platform  |  Capgemini x Snowflake Hackathon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7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Business Value &amp; Judging Criteria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371600" cy="1051560"/>
          </a:xfrm>
          <a:prstGeom prst="roundRect">
            <a:avLst>
              <a:gd name="adj" fmla="val 12000"/>
            </a:avLst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27632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0B1F3A"/>
                </a:solidFill>
                <a:latin typeface="Calibri"/>
              </a:rPr>
              <a:t>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35331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737360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D6E8"/>
                </a:solidFill>
                <a:latin typeface="Calibri"/>
              </a:rPr>
              <a:t>One governed agent spanning structured, unstructured, and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D6E8"/>
                </a:solidFill>
                <a:latin typeface="Calibri"/>
              </a:rPr>
              <a:t>meta (data-quality) data — not three disconnected demos.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1371600" cy="1051560"/>
          </a:xfrm>
          <a:prstGeom prst="roundRect">
            <a:avLst>
              <a:gd name="adj" fmla="val 12000"/>
            </a:avLst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62072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0B1F3A"/>
                </a:solidFill>
                <a:latin typeface="Calibri"/>
              </a:rPr>
              <a:t>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5877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Technical Excellence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971800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D6E8"/>
                </a:solidFill>
                <a:latin typeface="Calibri"/>
              </a:rPr>
              <a:t>Native SEMANTIC VIEW, CORTEX SEARCH SERVICE, and AGENT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D6E8"/>
                </a:solidFill>
                <a:latin typeface="Calibri"/>
              </a:rPr>
              <a:t>objects — no hand-rolled RAG or orchestration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371600" cy="1051560"/>
          </a:xfrm>
          <a:prstGeom prst="roundRect">
            <a:avLst>
              <a:gd name="adj" fmla="val 12000"/>
            </a:avLst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96512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0B1F3A"/>
                </a:solidFill>
                <a:latin typeface="Calibri"/>
              </a:rP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822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Business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206240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D6E8"/>
                </a:solidFill>
                <a:latin typeface="Calibri"/>
              </a:rPr>
              <a:t>Collapses three specialist workflows (SQL analyst, document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D6E8"/>
                </a:solidFill>
                <a:latin typeface="Calibri"/>
              </a:rPr>
              <a:t>reviewer, DQ engineer) into one self-service chat experience.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74920"/>
            <a:ext cx="1371600" cy="1051560"/>
          </a:xfrm>
          <a:prstGeom prst="roundRect">
            <a:avLst>
              <a:gd name="adj" fmla="val 12000"/>
            </a:avLst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330952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0B1F3A"/>
                </a:solidFill>
                <a:latin typeface="Calibri"/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05663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User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440680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D6E8"/>
                </a:solidFill>
                <a:latin typeface="Calibri"/>
              </a:rPr>
              <a:t>One chat box; every answer is explainable — SQL shown,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7D6E8"/>
                </a:solidFill>
                <a:latin typeface="Calibri"/>
              </a:rPr>
              <a:t>sources cited — so business users can trust and verify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FFFFFF"/>
                </a:solidFill>
                <a:latin typeface="Calibri"/>
              </a:rPr>
              <a:t>Unified Enterprise AI Agents Platform  |  Capgemini x Snowflake Hackathon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Capgemini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51560" cy="40640"/>
          </a:xfrm>
          <a:prstGeom prst="rect">
            <a:avLst/>
          </a:prstGeom>
          <a:solidFill>
            <a:srgbClr val="007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45720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9B5E8"/>
                </a:solidFill>
              </a:rPr>
              <a:t>❄ </a:t>
            </a:r>
            <a:r>
              <a:rPr sz="2400" b="1">
                <a:solidFill>
                  <a:srgbClr val="FFFFFF"/>
                </a:solidFill>
                <a:latin typeface="Calibri"/>
              </a:rPr>
              <a:t>Snowflake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3520440"/>
            <a:ext cx="1371600" cy="31750"/>
          </a:xfrm>
          <a:prstGeom prst="rect">
            <a:avLst/>
          </a:prstGeom>
          <a:solidFill>
            <a:srgbClr val="E8A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29B5E8"/>
                </a:solidFill>
                <a:latin typeface="Calibri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Kiran Kumar Rajoju   •   Raza Hussain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492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C7D6E8"/>
                </a:solidFill>
                <a:latin typeface="Calibri"/>
              </a:rPr>
              <a:t>github.com/kirangithub9/Insurance_AI_Hub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